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607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Aptos Display"/>
              </a:rPr>
              <a:t>Predictive Forecasting of
Care Load &amp; Placement Demand</a:t>
            </a:r>
          </a:p>
          <a:p>
            <a:pPr>
              <a:spcBef>
                <a:spcPts val="1800"/>
              </a:spcBef>
            </a:pPr>
            <a:r>
              <a:rPr sz="2000">
                <a:solidFill>
                  <a:srgbClr val="CDDCF0"/>
                </a:solidFill>
                <a:latin typeface="Aptos"/>
              </a:rPr>
              <a:t>Data Analytics &amp; Machine Learning Project</a:t>
            </a:r>
          </a:p>
          <a:p>
            <a:pPr>
              <a:spcBef>
                <a:spcPts val="2800"/>
              </a:spcBef>
            </a:pPr>
            <a:r>
              <a:rPr sz="1600">
                <a:solidFill>
                  <a:srgbClr val="FFFFFF"/>
                </a:solidFill>
                <a:latin typeface="Aptos"/>
              </a:rPr>
              <a:t>Prepared by: Kishan Masura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Forecast future HHS care occupancy using historical care-load data.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Understand historical occupancy patterns and temporal variation.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Identify important predictive factors for care occupancy.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Compare machine learning models using MAE, RMSE and R².</a:t>
            </a:r>
          </a:p>
          <a:p>
            <a:pPr>
              <a:spcAft>
                <a:spcPts val="1300"/>
              </a:spcAft>
              <a:defRPr sz="2000">
                <a:solidFill>
                  <a:srgbClr val="232A34"/>
                </a:solidFill>
                <a:latin typeface="Aptos"/>
              </a:defRPr>
            </a:pPr>
            <a:r>
              <a:t>Support capacity planning, resource allocation and operational decision-making.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Dataset &amp; Analytical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42743"/>
                </a:solidFill>
                <a:latin typeface="Aptos Display"/>
              </a:rPr>
              <a:t>HHS Program</a:t>
            </a:r>
          </a:p>
          <a:p>
            <a:pPr algn="ctr"/>
            <a:r>
              <a:rPr sz="1100">
                <a:solidFill>
                  <a:srgbClr val="646E7A"/>
                </a:solidFill>
                <a:latin typeface="Aptos"/>
              </a:rPr>
              <a:t>Source domain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32588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42743"/>
                </a:solidFill>
                <a:latin typeface="Aptos Display"/>
              </a:rPr>
              <a:t>Children in HHS Care</a:t>
            </a:r>
          </a:p>
          <a:p>
            <a:pPr algn="ctr"/>
            <a:r>
              <a:rPr sz="1100">
                <a:solidFill>
                  <a:srgbClr val="646E7A"/>
                </a:solidFill>
                <a:latin typeface="Aptos"/>
              </a:rPr>
              <a:t>Prediction target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25880"/>
            <a:ext cx="3291840" cy="1234440"/>
          </a:xfrm>
          <a:prstGeom prst="roundRect">
            <a:avLst/>
          </a:prstGeom>
          <a:solidFill>
            <a:srgbClr val="F4F7FA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42743"/>
                </a:solidFill>
                <a:latin typeface="Aptos Display"/>
              </a:rPr>
              <a:t>3 Models</a:t>
            </a:r>
          </a:p>
          <a:p>
            <a:pPr algn="ctr"/>
            <a:r>
              <a:rPr sz="1100">
                <a:solidFill>
                  <a:srgbClr val="646E7A"/>
                </a:solidFill>
                <a:latin typeface="Aptos"/>
              </a:rPr>
              <a:t>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42743"/>
                </a:solidFill>
                <a:latin typeface="Aptos"/>
              </a:rPr>
              <a:t>Raw Dataset  →  Data Cleaning  →  EDA  →  Feature Engineering  →  Train/Test Split
→  Model Training  →  Model Evaluation  →  Best Model Selection  →  Future Forecasting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0060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646E7A"/>
                </a:solidFill>
                <a:latin typeface="Aptos"/>
              </a:rPr>
              <a:t>Technologies: Python • Pandas • NumPy • Matplotlib • Seaborn • Scikit-learn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Historical Care Occupancy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3657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HHS care occupancy shows substantial variation across the historical period.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Higher occupancy levels were observed during parts of 2023 and 2024.</a:t>
            </a:r>
          </a:p>
          <a:p>
            <a:pPr>
              <a:spcAft>
                <a:spcPts val="1300"/>
              </a:spcAft>
              <a:defRPr sz="1700">
                <a:solidFill>
                  <a:srgbClr val="232A34"/>
                </a:solidFill>
                <a:latin typeface="Aptos"/>
              </a:defRPr>
            </a:pPr>
            <a:r>
              <a:t>A pronounced decline occurred during 2025, followed by stabilization at a lower level.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25880"/>
            <a:ext cx="66751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42743"/>
                </a:solidFill>
              </a:rPr>
              <a:t>Key historical pattern</a:t>
            </a:r>
          </a:p>
          <a:p>
            <a:pPr algn="ctr">
              <a:spcBef>
                <a:spcPts val="2000"/>
              </a:spcBef>
            </a:pPr>
            <a:r>
              <a:rPr sz="1900">
                <a:solidFill>
                  <a:srgbClr val="232A34"/>
                </a:solidFill>
              </a:rPr>
              <a:t>Elevated care load in earlier periods</a:t>
            </a:r>
          </a:p>
          <a:p>
            <a:pPr algn="ctr">
              <a:spcBef>
                <a:spcPts val="2000"/>
              </a:spcBef>
            </a:pPr>
            <a:r>
              <a:rPr sz="1900">
                <a:solidFill>
                  <a:srgbClr val="232A34"/>
                </a:solidFill>
              </a:rPr>
              <a:t>Sharp reduction entering 2025</a:t>
            </a:r>
          </a:p>
          <a:p>
            <a:pPr algn="ctr">
              <a:spcBef>
                <a:spcPts val="2000"/>
              </a:spcBef>
            </a:pPr>
            <a:r>
              <a:rPr sz="1900">
                <a:solidFill>
                  <a:srgbClr val="232A34"/>
                </a:solidFill>
              </a:rPr>
              <a:t>Lower and more stable levels afterward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Monthly Care Occupancy</a:t>
            </a:r>
          </a:p>
        </p:txBody>
      </p:sp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07875"/>
            <a:ext cx="7315200" cy="38994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4173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Average occupancy was substantially higher during earlier periods.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The monthly averages decline sharply around the transition into 2025.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Later monthly levels remain much lower than the earlier peaks.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CBP Custody Trend</a:t>
            </a:r>
          </a:p>
        </p:txBody>
      </p:sp>
      <p:pic>
        <p:nvPicPr>
          <p:cNvPr id="4" name="Picture 3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033637"/>
            <a:ext cx="7315200" cy="3247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41732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CBP custody also exhibits strong temporal variation.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The series reaches its highest levels around early 2024.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Custody levels fall substantially during 2025.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Correlation Analysis</a:t>
            </a:r>
          </a:p>
        </p:txBody>
      </p:sp>
      <p:pic>
        <p:nvPicPr>
          <p:cNvPr id="4" name="Picture 3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0424" y="1143000"/>
            <a:ext cx="573723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78040" y="1325880"/>
            <a:ext cx="4206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HHS care and HHS discharges show a strong positive relationship (0.92).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CBP custody and transferred children are also strongly related (0.93).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Children transferred out of CBP custody correlates 0.71 with HHS care.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Historical operational indicators provide useful predictive information.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Model Performance Comparison</a:t>
            </a:r>
          </a:p>
        </p:txBody>
      </p:sp>
      <p:pic>
        <p:nvPicPr>
          <p:cNvPr id="4" name="Picture 3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69858"/>
            <a:ext cx="6583680" cy="3266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06640" y="1325880"/>
            <a:ext cx="3840480" cy="1188720"/>
          </a:xfrm>
          <a:prstGeom prst="roundRect">
            <a:avLst/>
          </a:prstGeom>
          <a:solidFill>
            <a:srgbClr val="EBF5E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42743"/>
                </a:solidFill>
                <a:latin typeface="Aptos Display"/>
              </a:rPr>
              <a:t>67.37</a:t>
            </a:r>
          </a:p>
          <a:p>
            <a:pPr algn="ctr"/>
            <a:r>
              <a:rPr sz="1100">
                <a:solidFill>
                  <a:srgbClr val="646E7A"/>
                </a:solidFill>
                <a:latin typeface="Aptos"/>
              </a:rPr>
              <a:t>Gradient Boosting MAE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743200"/>
            <a:ext cx="3840480" cy="1188720"/>
          </a:xfrm>
          <a:prstGeom prst="roundRect">
            <a:avLst/>
          </a:prstGeom>
          <a:solidFill>
            <a:srgbClr val="EFF4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42743"/>
                </a:solidFill>
                <a:latin typeface="Aptos Display"/>
              </a:rPr>
              <a:t>0.998791</a:t>
            </a:r>
          </a:p>
          <a:p>
            <a:pPr algn="ctr"/>
            <a:r>
              <a:rPr sz="1100">
                <a:solidFill>
                  <a:srgbClr val="646E7A"/>
                </a:solidFill>
                <a:latin typeface="Aptos"/>
              </a:rPr>
              <a:t>Gradient Boosting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416052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Linear Regression — MAE 74.55; RMSE 98.89; R² 0.998823</a:t>
            </a:r>
          </a:p>
          <a:p>
            <a:pPr>
              <a:spcAft>
                <a:spcPts val="13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Random Forest — MAE 72.21; RMSE 114.45; R² 0.998424</a:t>
            </a:r>
          </a:p>
          <a:p>
            <a:pPr>
              <a:spcAft>
                <a:spcPts val="13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Gradient Boosting — MAE 67.37; RMSE 100.21; R² 0.998791</a:t>
            </a:r>
          </a:p>
          <a:p>
            <a:pPr>
              <a:spcAft>
                <a:spcPts val="13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Gradient Boosting selected based primarily on the lowest MAE.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Feature Importance</a:t>
            </a:r>
          </a:p>
        </p:txBody>
      </p:sp>
      <p:pic>
        <p:nvPicPr>
          <p:cNvPr id="4" name="Picture 3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25671"/>
            <a:ext cx="6583680" cy="30638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06640" y="1417320"/>
            <a:ext cx="3931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Children in HHS Care — 0.468840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HHS_Lag_1 — 0.334926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Rolling7 — 0.172212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Rolling14 — 0.013689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Recent care-load history is the dominant predictive signal.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Actual vs Predicted</a:t>
            </a:r>
          </a:p>
        </p:txBody>
      </p:sp>
      <p:pic>
        <p:nvPicPr>
          <p:cNvPr id="4" name="Picture 3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52576"/>
            <a:ext cx="7315200" cy="34100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41732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The report's visualization shows predictions closely following observed HHS care values.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The close alignment supports the strong predictive performance indicated by the evaluation metrics.</a:t>
            </a:r>
          </a:p>
          <a:p>
            <a:pPr>
              <a:spcAft>
                <a:spcPts val="1300"/>
              </a:spcAft>
              <a:defRPr sz="1500">
                <a:solidFill>
                  <a:srgbClr val="232A34"/>
                </a:solidFill>
                <a:latin typeface="Aptos"/>
              </a:defRPr>
            </a:pPr>
            <a:r>
              <a:t>The embedded chart is labelled “Actual vs Predicted (Random Forest)” in the source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Future Forecast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3200400" cy="1417320"/>
          </a:xfrm>
          <a:prstGeom prst="roundRect">
            <a:avLst/>
          </a:prstGeom>
          <a:solidFill>
            <a:srgbClr val="EFF4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42743"/>
                </a:solidFill>
                <a:latin typeface="Aptos Display"/>
              </a:rPr>
              <a:t>Lower</a:t>
            </a:r>
          </a:p>
          <a:p>
            <a:pPr algn="ctr"/>
            <a:r>
              <a:rPr sz="1100">
                <a:solidFill>
                  <a:srgbClr val="646E7A"/>
                </a:solidFill>
                <a:latin typeface="Aptos"/>
              </a:rPr>
              <a:t>Predicted occupancy level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17320"/>
            <a:ext cx="3200400" cy="1417320"/>
          </a:xfrm>
          <a:prstGeom prst="roundRect">
            <a:avLst/>
          </a:prstGeom>
          <a:solidFill>
            <a:srgbClr val="EBF5EF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42743"/>
                </a:solidFill>
                <a:latin typeface="Aptos Display"/>
              </a:rPr>
              <a:t>Stable</a:t>
            </a:r>
          </a:p>
          <a:p>
            <a:pPr algn="ctr"/>
            <a:r>
              <a:rPr sz="1100">
                <a:solidFill>
                  <a:srgbClr val="646E7A"/>
                </a:solidFill>
                <a:latin typeface="Aptos"/>
              </a:rPr>
              <a:t>After the sharp decline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17320"/>
            <a:ext cx="3200400" cy="1417320"/>
          </a:xfrm>
          <a:prstGeom prst="roundRect">
            <a:avLst/>
          </a:prstGeom>
          <a:solidFill>
            <a:srgbClr val="FAF6EB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500" b="1">
                <a:solidFill>
                  <a:srgbClr val="142743"/>
                </a:solidFill>
                <a:latin typeface="Aptos Display"/>
              </a:rPr>
              <a:t>Moderate</a:t>
            </a:r>
          </a:p>
          <a:p>
            <a:pPr algn="ctr"/>
            <a:r>
              <a:rPr sz="1100">
                <a:solidFill>
                  <a:srgbClr val="646E7A"/>
                </a:solidFill>
                <a:latin typeface="Aptos"/>
              </a:rPr>
              <a:t>Expected fluctuations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The future forecast indicates a substantial reduction in predicted HHS care occupancy compared with earlier elevated levels.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Following the decline, predicted occupancy stabilizes at a substantially lower level with moderate fluctuations.</a:t>
            </a:r>
          </a:p>
          <a:p>
            <a:pPr>
              <a:spcAft>
                <a:spcPts val="1300"/>
              </a:spcAft>
              <a:defRPr sz="1900">
                <a:solidFill>
                  <a:srgbClr val="232A34"/>
                </a:solidFill>
                <a:latin typeface="Aptos"/>
              </a:defRPr>
            </a:pPr>
            <a:r>
              <a:t>The forecast is a model-based estimate and should not be interpreted as a guaranteed outcome.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42743"/>
                </a:solidFill>
                <a:latin typeface="Aptos Display"/>
              </a:rPr>
              <a:t>Business 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3035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743"/>
                </a:solidFill>
              </a:rPr>
              <a:t>Recommendations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t>Capacity planning using forecast outputs.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t>Resource allocation for staffing, facilities and operations.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t>Continuous monitoring of recent care-load trends.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t>Periodic forecast review in planning workflows.</a:t>
            </a:r>
          </a:p>
          <a:p>
            <a:pPr>
              <a:spcAft>
                <a:spcPts val="900"/>
              </a:spcAft>
              <a:defRPr sz="1500">
                <a:solidFill>
                  <a:srgbClr val="232A34"/>
                </a:solidFill>
              </a:defRPr>
            </a:pPr>
            <a:r>
              <a:t>Ongoing model-performance monitoring as new data arrives.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234440"/>
            <a:ext cx="512064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42743"/>
                </a:solidFill>
              </a:rPr>
              <a:t>Conclusion</a:t>
            </a:r>
          </a:p>
          <a:p>
            <a:pPr>
              <a:spcAft>
                <a:spcPts val="1400"/>
              </a:spcAft>
              <a:defRPr sz="1600">
                <a:solidFill>
                  <a:srgbClr val="232A34"/>
                </a:solidFill>
              </a:defRPr>
            </a:pPr>
            <a:r>
              <a:t>The project demonstrates an end-to-end predictive analytics workflow for HHS care occupancy.</a:t>
            </a:r>
          </a:p>
          <a:p>
            <a:pPr>
              <a:spcAft>
                <a:spcPts val="1400"/>
              </a:spcAft>
              <a:defRPr sz="1600">
                <a:solidFill>
                  <a:srgbClr val="232A34"/>
                </a:solidFill>
              </a:defRPr>
            </a:pPr>
            <a:r>
              <a:t>Gradient Boosting was selected primarily because it achieved the lowest MAE.</a:t>
            </a:r>
          </a:p>
          <a:p>
            <a:pPr>
              <a:spcAft>
                <a:spcPts val="1400"/>
              </a:spcAft>
              <a:defRPr sz="1600">
                <a:solidFill>
                  <a:srgbClr val="232A34"/>
                </a:solidFill>
              </a:defRPr>
            </a:pPr>
            <a:r>
              <a:t>The framework provides a foundation for future operational dashboards, automated forecasting pipelines and capacity-planning applications.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35640" y="651967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46E7A"/>
                </a:solidFill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